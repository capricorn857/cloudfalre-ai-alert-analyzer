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0:30；累计 0:30。正文目标 25 分钟，讨论 3 分钟，预留 2 分钟机动。计时包含指图与停顿，建议会前排练一次。</a:t>
            </a:r>
          </a:p>
          <a:p>
            <a:endParaRPr lang="en-US" dirty="0"/>
          </a:p>
          <a:p>
            <a:r>
              <a:rPr lang="zh-CN" dirty="0"/>
              <a:t>今天分享 Cloudflare AI 告警分析系统。我们用一条 WAF 告警串起三个问题：原始告警缺少哪些上下文，如何在 Workers 上完成可靠的异步分析，以及怎样让 AI 的判断受到证据约束。听完后，大家应该能解释这条链路，也能判断哪些输出值得参考、哪些仍需人工核验。</a:t>
            </a:r>
          </a:p>
          <a:p>
            <a:endParaRPr lang="en-US" dirty="0"/>
          </a:p>
          <a:p>
            <a:r>
              <a:rPr lang="zh-CN" dirty="0"/>
              <a:t>【过渡】先回到收到告警的那一刻。</a:t>
            </a:r>
          </a:p>
          <a:p>
            <a:r>
              <a:rPr lang="zh-CN" dirty="0"/>
              <a:t>【依据】README.md；需求文档第 2 至 4 节。本分享反映截至 2026-09-30 的仓库记录。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2:00；累计 2:30。</a:t>
            </a:r>
          </a:p>
          <a:p>
            <a:endParaRPr lang="en-US" dirty="0"/>
          </a:p>
          <a:p>
            <a:r>
              <a:rPr lang="zh-CN" dirty="0"/>
              <a:t>假设我们收到左侧这条告警：example.test 的 WAF 安全事件突然增加，告警参考事件数是 1,000，动作字段是 allow。这里的域名、数字和后续案例都经过虚构，不是生产事件。</a:t>
            </a:r>
          </a:p>
          <a:p>
            <a:endParaRPr lang="en-US" dirty="0"/>
          </a:p>
          <a:p>
            <a:r>
              <a:rPr lang="zh-CN" dirty="0"/>
              <a:t>现在可以知道发生了异常，但还不能直接采取处置。至少有三个问题没有答案：来源是什么，目标是什么，Cloudflare 已经做了什么。来源可能集中于少数 IP，也可能分散；目标可能集中在一个业务 Host，也可能只是多个站点的背景噪声。这些情况的核验路径不同。</a:t>
            </a:r>
          </a:p>
          <a:p>
            <a:endParaRPr lang="en-US" dirty="0"/>
          </a:p>
          <a:p>
            <a:r>
              <a:rPr lang="zh-CN" dirty="0"/>
              <a:t>请大家想一下，自己收到告警后的第一个动作是什么。通常是打开 Dashboard，选择时间窗口，再逐个查看 IP、路径和动作分布。停顿约十秒，请一位同事回答，随后回到主线。本项目希望自动整理这部分上下文，让通知成为排查入口。</a:t>
            </a:r>
          </a:p>
          <a:p>
            <a:endParaRPr lang="en-US" dirty="0"/>
          </a:p>
          <a:p>
            <a:r>
              <a:rPr lang="zh-CN" dirty="0"/>
              <a:t>这里特别强调两点。第一，Security Events 增加不等于攻击意图已被证实。第二，Payload 的事件数只是告警参考值，不能直接拿它给后面所有统计做分母。后续比例来自固定窗口下的 GraphQL 聚合，二者可能因时间和采样口径不同而不相等。幻灯片为了便于理解用了相同数字，但代码没有强制它们一致。</a:t>
            </a:r>
          </a:p>
          <a:p>
            <a:endParaRPr lang="en-US" dirty="0"/>
          </a:p>
          <a:p>
            <a:r>
              <a:rPr lang="zh-CN" dirty="0"/>
              <a:t>【过渡】围绕这个问题，我们刻意缩小了系统边界。</a:t>
            </a:r>
          </a:p>
          <a:p>
            <a:r>
              <a:rPr lang="zh-CN" dirty="0"/>
              <a:t>【依据】需求文档第 2、3、11 节；README.md 运行边界。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1:00；累计 3:30。</a:t>
            </a:r>
          </a:p>
          <a:p>
            <a:endParaRPr lang="en-US" dirty="0"/>
          </a:p>
          <a:p>
            <a:r>
              <a:rPr lang="zh-CN" dirty="0"/>
              <a:t>边界可以记住三个词：只读、一次快照、辅助研判。只读意味着系统读取 Cloudflare 数据、整理判断和建议，但不自动封禁 IP 或修改 WAF。一次快照意味着针对当前告警固定一个窗口，不持续追踪，不等数据收敛，也不产生初报和终报两套流程。辅助研判意味着最终决定仍由运维和安全人员完成。</a:t>
            </a:r>
          </a:p>
          <a:p>
            <a:endParaRPr lang="en-US" dirty="0"/>
          </a:p>
          <a:p>
            <a:r>
              <a:rPr lang="zh-CN" dirty="0"/>
              <a:t>这些约束直接影响架构。我们不需要做后台、历史检索或持久化事件生命周期；也不把模型接入配置变更权限。减少能力范围之后，更容易把数据口径、故障行为和输出边界讲清楚。这是一个用于告警分析的工具，不是完整 SOC 平台。</a:t>
            </a:r>
          </a:p>
          <a:p>
            <a:endParaRPr lang="en-US" dirty="0"/>
          </a:p>
          <a:p>
            <a:r>
              <a:rPr lang="zh-CN" dirty="0"/>
              <a:t>【过渡】那么，在这些边界内，它能给使用者带来什么？</a:t>
            </a:r>
          </a:p>
          <a:p>
            <a:r>
              <a:rPr lang="zh-CN" dirty="0"/>
              <a:t>【依据】需求文档非目标；已确认 MVP 和后续 Host OpenSpec。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1:30；累计 5:00。</a:t>
            </a:r>
          </a:p>
          <a:p>
            <a:endParaRPr lang="en-US" dirty="0"/>
          </a:p>
          <a:p>
            <a:r>
              <a:rPr lang="zh-CN" dirty="0"/>
              <a:t>先看结果，再讲实现。左边是原始告警，右边是虚构的分析通知摘要。右边新增了业务 Host、该 Host 的快照事件总量、目标路径的数量与比例，以及 allow 和 block 的处理分布。比如 api.example.test 有 600 个事件，其中 /api/login 有 300 个，占这个 Host 的 50%。注意分母是 600，而不是 Zone 的 1,000。</a:t>
            </a:r>
          </a:p>
          <a:p>
            <a:endParaRPr lang="en-US" dirty="0"/>
          </a:p>
          <a:p>
            <a:r>
              <a:rPr lang="zh-CN" dirty="0"/>
              <a:t>这些信息不是让我们马上封禁，而是让我们知道应该核验哪里。例如，优先看这个 Host 的登录路径，确认主要来源是否属于正常业务，再结合应用日志看是否真的存在异常。allow 80% 只能表示快照安全事件的动作分布，不能解释为 80% 的已确认攻击穿透了防护。</a:t>
            </a:r>
          </a:p>
          <a:p>
            <a:endParaRPr lang="en-US" dirty="0"/>
          </a:p>
          <a:p>
            <a:r>
              <a:rPr lang="zh-CN" dirty="0"/>
              <a:t>真实通知还要保留固定窗口、覆盖信息、incident_id 和 correlation_id。页面为了投影可读性只放摘要，并非机器人真实截图。当前实现也不会为了页面好看而展示一段未经校验的模型原文。</a:t>
            </a:r>
          </a:p>
          <a:p>
            <a:endParaRPr lang="en-US" dirty="0"/>
          </a:p>
          <a:p>
            <a:r>
              <a:rPr lang="zh-CN" dirty="0"/>
              <a:t>【过渡】接下来拆开这条通知是怎样产生的。</a:t>
            </a:r>
          </a:p>
          <a:p>
            <a:r>
              <a:rPr lang="zh-CN" dirty="0"/>
              <a:t>【依据】src/notification/host-formatter.ts；README.md 运行时配置。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2:00；累计 7:00。</a:t>
            </a:r>
          </a:p>
          <a:p>
            <a:endParaRPr lang="en-US" dirty="0"/>
          </a:p>
          <a:p>
            <a:r>
              <a:rPr lang="zh-CN" dirty="0"/>
              <a:t>从左到右看，一条 WAF 告警通过 Webhook 进入 Worker 的 fetch Handler。这里完成路由与 Zod 校验，记录接收时间，固定分析窗口，最后写入 Queue。只有入队成功才返回 202；如果入队失败，不能告诉调用方已经接收成功。</a:t>
            </a:r>
          </a:p>
          <a:p>
            <a:endParaRPr lang="en-US" dirty="0"/>
          </a:p>
          <a:p>
            <a:r>
              <a:rPr lang="zh-CN" dirty="0"/>
              <a:t>入口不调用 GraphQL、LLM 或企业微信。因此响应无需等待完整分析，也避免把复杂外部调用绑定到 Webhook 的请求生命周期。Queue 按设定延迟投递。消费者实际开始执行时，校验并复用消息中的窗口，再进入 WAF Analyzer。</a:t>
            </a:r>
          </a:p>
          <a:p>
            <a:endParaRPr lang="en-US" dirty="0"/>
          </a:p>
          <a:p>
            <a:r>
              <a:rPr lang="zh-CN" dirty="0"/>
              <a:t>消费者内部先查询 Zone 总量和 Top Host，然后在同一窗口里对选中的 Host 分别采集聚合和样本，做确定性统计与规则分析。之后生成证据目录，交给模型；模型结果必须经过程序校验，再由 Formatter 生成企业微信文本。如果 AI 不可用，规则分析继续走到通知。</a:t>
            </a:r>
          </a:p>
          <a:p>
            <a:endParaRPr lang="en-US" dirty="0"/>
          </a:p>
          <a:p>
            <a:r>
              <a:rPr lang="zh-CN" dirty="0"/>
              <a:t>这里没有拆成多个微服务。同一个 Worker 提供 fetch 和 queue 两个 Handler，但代码职责分开：入口只做接入，Client 只负责外部通信，统计和规则尽量是纯函数，Formatter 管展示。index.ts 只组合依赖和注册 Handler。</a:t>
            </a:r>
          </a:p>
          <a:p>
            <a:endParaRPr lang="en-US" dirty="0"/>
          </a:p>
          <a:p>
            <a:r>
              <a:rPr lang="zh-CN" dirty="0"/>
              <a:t>【指图】先指上方五个节点，再指右下 Consumer 内部步骤，避免逐个模块名称展开。</a:t>
            </a:r>
          </a:p>
          <a:p>
            <a:r>
              <a:rPr lang="zh-CN" dirty="0"/>
              <a:t>【过渡】这也解释了为什么选择当前技术栈。</a:t>
            </a:r>
          </a:p>
          <a:p>
            <a:r>
              <a:rPr lang="zh-CN" dirty="0"/>
              <a:t>【依据】src/index.ts；src/api/cloudflare-alert.ts；src/pipeline；README.md。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1:30；累计 8:30。</a:t>
            </a:r>
          </a:p>
          <a:p>
            <a:endParaRPr lang="en-US" dirty="0"/>
          </a:p>
          <a:p>
            <a:r>
              <a:rPr lang="zh-CN" dirty="0"/>
              <a:t>技术选型围绕工作负载展开。我们的主要工作是 JSON 校验、外部 API 调用和有限的数据处理，Workers 原生 Handler 与 Fetch API 已经足够，不需要再引入 HTTP 框架或维护服务器进程。</a:t>
            </a:r>
          </a:p>
          <a:p>
            <a:endParaRPr lang="en-US" dirty="0"/>
          </a:p>
          <a:p>
            <a:r>
              <a:rPr lang="zh-CN" dirty="0"/>
              <a:t>Queues 承担异步任务和延迟投递。它让分析与 HTTP 生命周期解耦，但代价是我们必须接受至少一次投递，不能承诺永远只有一条通知。MVP 没有引入幂等存储，重复通知通过完整的事件标识辅助识别。</a:t>
            </a:r>
          </a:p>
          <a:p>
            <a:endParaRPr lang="en-US" dirty="0"/>
          </a:p>
          <a:p>
            <a:r>
              <a:rPr lang="zh-CN" dirty="0"/>
              <a:t>TypeScript 和 Zod 分别覆盖编译期与运行时。外部输入在进入业务前需要校验；模型输出同样属于不可信边界。Vitest 配合 Workers 插件测试真实运行时和 bindings，Wrangler 管理本地开发、类型生成和部署。</a:t>
            </a:r>
          </a:p>
          <a:p>
            <a:endParaRPr lang="en-US" dirty="0"/>
          </a:p>
          <a:p>
            <a:r>
              <a:rPr lang="zh-CN" dirty="0"/>
              <a:t>这种轻量方案的边界也很清楚：没有数据库，不提供历史检索，不自动追踪事件。如果未来需要持久化幂等或事件生命周期，就应重新评估架构和变更范围，而不是把这些能力偷偷塞进现有链路。</a:t>
            </a:r>
          </a:p>
          <a:p>
            <a:endParaRPr lang="en-US" dirty="0"/>
          </a:p>
          <a:p>
            <a:r>
              <a:rPr lang="zh-CN" dirty="0"/>
              <a:t>【过渡】轻量不等于随意，尤其是时间口径必须固定。</a:t>
            </a:r>
          </a:p>
          <a:p>
            <a:r>
              <a:rPr lang="zh-CN" dirty="0"/>
              <a:t>【依据】技术栈文档；README.md；package.json；vitest.config.ts。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2:00；累计 10:30。</a:t>
            </a:r>
          </a:p>
          <a:p>
            <a:endParaRPr lang="en-US" dirty="0"/>
          </a:p>
          <a:p>
            <a:r>
              <a:rPr lang="zh-CN" dirty="0"/>
              <a:t>这一页是可靠性设计的关键。假设告警时间为 09:18:46 UTC，Webhook 在 09:19:00 完成校验、准备入队。默认向前取 30 分钟，所以开始是 08:48:46；默认缓冲 60 秒，所以截止是 09:20:00。</a:t>
            </a:r>
          </a:p>
          <a:p>
            <a:endParaRPr lang="en-US" dirty="0"/>
          </a:p>
          <a:p>
            <a:r>
              <a:rPr lang="zh-CN" dirty="0"/>
              <a:t>时间轴不是按真实比例绘制的，因为三十分钟与几十秒放在同一比例下不容易投影阅读。我们关心的是四个时间点的关系。结束时间在入队之前就已经固定，保存在 Queue Message 中。Queue 用延迟投递来缓冲上游聚合延迟，Worker 内没有主动 sleep。</a:t>
            </a:r>
          </a:p>
          <a:p>
            <a:endParaRPr lang="en-US" dirty="0"/>
          </a:p>
          <a:p>
            <a:r>
              <a:rPr lang="zh-CN" dirty="0"/>
              <a:t>再想一个情况：消费者因为调度延迟，09:22 才真正开始处理。是否把窗口扩到 09:22？答案是不扩。否则同一条告警的统计会因为排队时间变化而变化，技术重试也会变成重新分析。实际处理时间只用于日志和耗时观测。</a:t>
            </a:r>
          </a:p>
          <a:p>
            <a:endParaRPr lang="en-US" dirty="0"/>
          </a:p>
          <a:p>
            <a:r>
              <a:rPr lang="zh-CN" dirty="0"/>
              <a:t>空数据和低事件量也不触发第二轮采集。允许针对技术故障做有限重试，但所有请求复用原窗口。同一轮采集可以有多次 GraphQL HTTP 请求，并不意味着整个分析只有一次 HTTP 调用。</a:t>
            </a:r>
          </a:p>
          <a:p>
            <a:endParaRPr lang="en-US" dirty="0"/>
          </a:p>
          <a:p>
            <a:r>
              <a:rPr lang="zh-CN" dirty="0"/>
              <a:t>【互动停顿】问“如果重试发生在五分钟后，截止是否改变”，停顿数秒后指向右下答案。</a:t>
            </a:r>
          </a:p>
          <a:p>
            <a:r>
              <a:rPr lang="zh-CN" dirty="0"/>
              <a:t>【过渡】除了时间，另一个容易混淆的口径是 Host。</a:t>
            </a:r>
          </a:p>
          <a:p>
            <a:r>
              <a:rPr lang="zh-CN" dirty="0"/>
              <a:t>【依据】src/pipeline/window.ts；src/domain/queue-message.ts；固定窗口需求与 Host OpenSpec。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2:00；累计 12:30。</a:t>
            </a:r>
          </a:p>
          <a:p>
            <a:endParaRPr lang="en-US" dirty="0"/>
          </a:p>
          <a:p>
            <a:r>
              <a:rPr lang="zh-CN" dirty="0"/>
              <a:t>这里沿用同一个虚构例子。Zone 一共有 1,000 个事件，api.example.test 有 600 个，www.example.test 有 300 个。剩下 100 个位于其他 Host，示例中不含 /api/login。</a:t>
            </a:r>
          </a:p>
          <a:p>
            <a:endParaRPr lang="en-US" dirty="0"/>
          </a:p>
          <a:p>
            <a:r>
              <a:rPr lang="zh-CN" dirty="0"/>
              <a:t>两个 Host 都有 /api/login，但含义不一样。在 api Host 上，这条路径有 300 个事件，占 600 的 50%；在 www Host 上，30 个事件只占 300 的 10%。如果按 Zone 合并，就只看见 330 除以 1,000，得到 33%。这个数字本身没有算错，但会掩盖具体业务 Host 的差异。</a:t>
            </a:r>
          </a:p>
          <a:p>
            <a:endParaRPr lang="en-US" dirty="0"/>
          </a:p>
          <a:p>
            <a:r>
              <a:rPr lang="zh-CN" dirty="0"/>
              <a:t>因此当前实现先做 Zone 发现，再对选中 Host 精确过滤、独立采集、独立统计和规则分析。默认选 Top 3，参数支持 1 到 5；后面的教学案例为了简洁显式使用 2。选择有限 Host 就意味着覆盖有限，不能暗示完整分析了所有站点。</a:t>
            </a:r>
          </a:p>
          <a:p>
            <a:endParaRPr lang="en-US" dirty="0"/>
          </a:p>
          <a:p>
            <a:r>
              <a:rPr lang="zh-CN" dirty="0"/>
              <a:t>还有一个分母要分清：UA 集中度来自样本，只能用该 Host 非空 UA 样本数作分母，不能冒充总体比例。采集失败也不能用零填充；零表示观测到没有事件，而失败表示不知道。发现与聚合口径不一致时，覆盖比例应显示未知。</a:t>
            </a:r>
          </a:p>
          <a:p>
            <a:endParaRPr lang="en-US" dirty="0"/>
          </a:p>
          <a:p>
            <a:r>
              <a:rPr lang="zh-CN" dirty="0"/>
              <a:t>【过渡】统计由程序明确之后，AI 才有一个可约束的输入。</a:t>
            </a:r>
          </a:p>
          <a:p>
            <a:r>
              <a:rPr lang="zh-CN" dirty="0"/>
              <a:t>【依据】src/analysis/host-analysis.ts；src/analysis/statistics.ts；Host OpenSpec；README.md。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2:00；累计 14:30。</a:t>
            </a:r>
          </a:p>
          <a:p>
            <a:endParaRPr lang="en-US" dirty="0"/>
          </a:p>
          <a:p>
            <a:r>
              <a:rPr lang="zh-CN" dirty="0"/>
              <a:t>左边是程序负责的部分。事件总量、比例、速率、规则关注等级都由确定性逻辑计算。证据目录也是程序从已经校验的数据派生的。模型不能再去 Cloudflare 查询，也不能重算这些比例。</a:t>
            </a:r>
          </a:p>
          <a:p>
            <a:endParaRPr lang="en-US" dirty="0"/>
          </a:p>
          <a:p>
            <a:r>
              <a:rPr lang="zh-CN" dirty="0"/>
              <a:t>右边是模型负责的部分：在有限的结论和建议类型中提出候选结果，并为每项绑定证据。当前版本已经收紧了最初自由文本报告的设计，模型不能任意生成一段安全分析直接发送给用户。</a:t>
            </a:r>
          </a:p>
          <a:p>
            <a:endParaRPr lang="en-US" dirty="0"/>
          </a:p>
          <a:p>
            <a:r>
              <a:rPr lang="zh-CN" dirty="0"/>
              <a:t>Unknown 是一个正常且重要的输出。当前支持策略只开放满足条件的疑似 Bot 假设，其他具体攻击类型在证据不足时必须 Unknown。页面没有宣传可以可靠识别暴力破解、撞库或漏洞利用，因为这些结论需要更丰富的证据。CRITICAL 也没有已开放的支持规则。</a:t>
            </a:r>
          </a:p>
          <a:p>
            <a:endParaRPr lang="en-US" dirty="0"/>
          </a:p>
          <a:p>
            <a:r>
              <a:rPr lang="zh-CN" dirty="0"/>
              <a:t>再补充两个容易误读的概念。规则关注等级不等于已经证实的危害程度；当前比例阈值也不能替代业务影响评估。模型给出的置信度是受约束的自评，不是校准过的攻击概率。我们更在意输出能否被核验，而不是听起来是否果断。</a:t>
            </a:r>
          </a:p>
          <a:p>
            <a:endParaRPr lang="en-US" dirty="0"/>
          </a:p>
          <a:p>
            <a:r>
              <a:rPr lang="zh-CN" dirty="0"/>
              <a:t>【讲述提示】在“Unknown 是正常结果”处稍作停顿，让听众理解收紧表达能力的价值。</a:t>
            </a:r>
          </a:p>
          <a:p>
            <a:r>
              <a:rPr lang="zh-CN" dirty="0"/>
              <a:t>【过渡】仅要求模型引用证据够不够？还不够。</a:t>
            </a:r>
          </a:p>
          <a:p>
            <a:r>
              <a:rPr lang="zh-CN" dirty="0"/>
              <a:t>【依据】structured-evidence-references/proposal.md；README.md 前置条件；src/domain/ai-analysis.ts。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2:30；累计 17:00。</a:t>
            </a:r>
          </a:p>
          <a:p>
            <a:endParaRPr lang="en-US" dirty="0"/>
          </a:p>
          <a:p>
            <a:r>
              <a:rPr lang="zh-CN" dirty="0"/>
              <a:t>这里有四个环节。首先是证据目录，每一项带有来源、Host 归属和相应口径。然后是结构校验，确认返回的是符合 Schema 的 JSON。第三步最重要：支持校验。不只看引用 ID 是否存在，还要看类型是否适配、有没有缺少必要证据、是否跨 Host、是否满足当前策略的阈值与样本条件。最后，Formatter 从经过验证的目录取值，按程序模板渲染。</a:t>
            </a:r>
          </a:p>
          <a:p>
            <a:endParaRPr lang="en-US" dirty="0"/>
          </a:p>
          <a:p>
            <a:r>
              <a:rPr lang="zh-CN" dirty="0"/>
              <a:t>看下面这个反例。某个 Host 的 Top IP 占 60%，/api/login 占 50%。这两个事实都可以成立，但它们是两份独立排名。我们不知道该 IP 的请求究竟有多少落在 /api/login，更没有登录失败、账号尝试等证据，所以不能推断这个 IP 正在对登录接口实施暴力破解。</a:t>
            </a:r>
          </a:p>
          <a:p>
            <a:endParaRPr lang="en-US" dirty="0"/>
          </a:p>
          <a:p>
            <a:r>
              <a:rPr lang="zh-CN" dirty="0"/>
              <a:t>即使模型把两个真实引用都列出来，联合关系也没有因此成立。当前系统不做 Host+IP+Path 交叉归因，不应通过自然语言拼出这种关系。这正是“引用存在”和“引用能支持声明”之间的区别。</a:t>
            </a:r>
          </a:p>
          <a:p>
            <a:endParaRPr lang="en-US" dirty="0"/>
          </a:p>
          <a:p>
            <a:r>
              <a:rPr lang="zh-CN" dirty="0"/>
              <a:t>可以给听众十秒，思考如果要支持这个结论，还缺少什么。可接受的方向包括联合维度请求证据、应用认证结果、账号维度与业务上下文。但这些是讨论方向，不代表项目已经具备，也不能自动加入现有生产查询。</a:t>
            </a:r>
          </a:p>
          <a:p>
            <a:endParaRPr lang="en-US" dirty="0"/>
          </a:p>
          <a:p>
            <a:r>
              <a:rPr lang="zh-CN" dirty="0"/>
              <a:t>最后提醒，这种校验验证的是预先规定的支持策略，不能证明上游数据完全准确，更不能证明攻击意图或实际损失。它降低了无依据输出的空间，而不是把模型变成绝对可信的裁判。</a:t>
            </a:r>
          </a:p>
          <a:p>
            <a:endParaRPr lang="en-US" dirty="0"/>
          </a:p>
          <a:p>
            <a:r>
              <a:rPr lang="zh-CN" dirty="0"/>
              <a:t>【过渡】校验拒绝输出后，告警会不会消失？</a:t>
            </a:r>
          </a:p>
          <a:p>
            <a:r>
              <a:rPr lang="zh-CN" dirty="0"/>
              <a:t>【依据】src/analysis/host-evidence.ts；src/analysis/evidence.ts；结构化证据与 Host OpenSpec。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2:00；累计 19:00。</a:t>
            </a:r>
          </a:p>
          <a:p>
            <a:endParaRPr lang="en-US" dirty="0"/>
          </a:p>
          <a:p>
            <a:r>
              <a:rPr lang="zh-CN" dirty="0"/>
              <a:t>答案是不会因为 AI 不可用就丢弃整条告警。我们按失败发生的位置处理。某个 Host 数据采集失败时，临时错误有限重试，最后明确标记失败和未知，同时保留其他 Host 的结果。若整个 Cloudflare 数据采集失败，就发送基础异常通知，而不是让模型补造统计。</a:t>
            </a:r>
          </a:p>
          <a:p>
            <a:endParaRPr lang="en-US" dirty="0"/>
          </a:p>
          <a:p>
            <a:r>
              <a:rPr lang="zh-CN" dirty="0"/>
              <a:t>如果只是一个 Host 的 AI 输出语义无效，仅该 Host 回退到规则分析；如果整个响应根结构无效，就让全部 AI 降级。两种情况都保留已经获得的统计和规则，不重新查询、不移动窗口，也不因为模型输出错误重放 Queue。</a:t>
            </a:r>
          </a:p>
          <a:p>
            <a:endParaRPr lang="en-US" dirty="0"/>
          </a:p>
          <a:p>
            <a:r>
              <a:rPr lang="zh-CN" dirty="0"/>
              <a:t>企业微信阶段只重试发送已经生成的文本，不再做一次 GraphQL 和 AI 分析。最终发送失败会记录并确认消息，这是当前设计的有限重试边界，意味着不能保证每条通知最终送达，需要通过日志和运维观测发现问题。发送成功之后，后续观测异常也不能再抛出导致整条消息重放。</a:t>
            </a:r>
          </a:p>
          <a:p>
            <a:endParaRPr lang="en-US" dirty="0"/>
          </a:p>
          <a:p>
            <a:r>
              <a:rPr lang="zh-CN" dirty="0"/>
              <a:t>与此同时，Queue 本身是至少一次投递。在极端情况下仍可能重复消费或重复通知，所以通知中必须保留完整 incident_id 和 correlation_id。我们没有持久化幂等存储，不能声称恰好一次。</a:t>
            </a:r>
          </a:p>
          <a:p>
            <a:endParaRPr lang="en-US" dirty="0"/>
          </a:p>
          <a:p>
            <a:r>
              <a:rPr lang="zh-CN" dirty="0"/>
              <a:t>【过渡】把这些规则放回一条实际处理流程中看看。</a:t>
            </a:r>
          </a:p>
          <a:p>
            <a:r>
              <a:rPr lang="zh-CN" dirty="0"/>
              <a:t>【依据】src/pipeline/process-alert.ts；src/pipeline/queue-handler.ts；src/clients；README.md。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3:00；累计 22:00。</a:t>
            </a:r>
          </a:p>
          <a:p>
            <a:endParaRPr lang="en-US" dirty="0"/>
          </a:p>
          <a:p>
            <a:r>
              <a:rPr lang="zh-CN" dirty="0"/>
              <a:t>这一页把前面的虚构场景完整串起来。告警时间是 09:18:46 UTC，接收时间是 09:19:00，所以固定窗口是 08:48:46 到 09:20:00。本例将 hostLimit 设为 2，选择 api 和 www 两个 Host；这只是演示配置，默认值仍然是 3。</a:t>
            </a:r>
          </a:p>
          <a:p>
            <a:endParaRPr lang="en-US" dirty="0"/>
          </a:p>
          <a:p>
            <a:r>
              <a:rPr lang="zh-CN" dirty="0"/>
              <a:t>GraphQL 发现 Zone 总量为 1,000。api 有 600 个事件，其中 /api/login 为 300，allow 为 480，block 为 120。www 有 300 个事件，其中 /api/login 为 30，allow 为 30，block 为 270。两边 challenge 都为零。本例假定聚合完整、发现与采集计数一致。因而覆盖估计为 900 除以 1,000，即 90%。如果这些前提不成立，就不能机械地展示 90%。</a:t>
            </a:r>
          </a:p>
          <a:p>
            <a:endParaRPr lang="en-US" dirty="0"/>
          </a:p>
          <a:p>
            <a:r>
              <a:rPr lang="zh-CN" dirty="0"/>
              <a:t>程序据此计算独立比例和规则 Finding，再生成证据目录。假设模型结构和支持校验通过，但不足以支持具体攻击类型，则返回 Unknown。当前 Formatter 隐藏 Unknown 的占位文案，仍然保留防护分布、来源路径、必要限定语和人工核验建议。Unknown 与 AI 调用失败不是同一回事：前者是合法结果，后者要明确显示 AI 降级。</a:t>
            </a:r>
          </a:p>
          <a:p>
            <a:endParaRPr lang="en-US" dirty="0"/>
          </a:p>
          <a:p>
            <a:r>
              <a:rPr lang="zh-CN" dirty="0"/>
              <a:t>这时值班人员可以按通知里的窗口进入 Dashboard，先核验 api Host 的路径集中度，再结合业务日志判断是否异常。不能因为 allow 80% 就断定 80% 的攻击穿透，也不能因为 www 的 block 90% 就声称业务绝对安全。</a:t>
            </a:r>
          </a:p>
          <a:p>
            <a:endParaRPr lang="en-US" dirty="0"/>
          </a:p>
          <a:p>
            <a:r>
              <a:rPr lang="zh-CN" dirty="0"/>
              <a:t>【现场互动，约 30 秒】请听众选择优先核验哪个 Host、为什么。引导回答基于业务上下文和事实，而不是只按数字大小认定攻击。然后追问：缺少哪一项业务证据会改变判断？讨论收束到“通知提供排查入口，人工核验决定处置”。</a:t>
            </a:r>
          </a:p>
          <a:p>
            <a:endParaRPr lang="en-US" dirty="0"/>
          </a:p>
          <a:p>
            <a:r>
              <a:rPr lang="zh-CN" dirty="0"/>
              <a:t>【完整教学通知示例】以下用于讲述，非真实投递记录，字段和数值均虚构。</a:t>
            </a:r>
          </a:p>
          <a:p>
            <a:endParaRPr lang="en-US" dirty="0"/>
          </a:p>
          <a:p>
            <a:r>
              <a:rPr lang="zh-CN" dirty="0"/>
              <a:t>【Cloudflare WAF 告警】</a:t>
            </a:r>
          </a:p>
          <a:p>
            <a:r>
              <a:rPr lang="zh-CN" dirty="0"/>
              <a:t>Zone: example.test；快照事件: 1000</a:t>
            </a:r>
          </a:p>
          <a:p>
            <a:r>
              <a:rPr lang="zh-CN" dirty="0"/>
              <a:t>一：Host: api.example.test；600 事件，占 Zone 60.0%</a:t>
            </a:r>
          </a:p>
          <a:p>
            <a:r>
              <a:rPr lang="zh-CN" dirty="0"/>
              <a:t>防护: block 20.0%；allow 80.0%；challenge 0.0%</a:t>
            </a:r>
          </a:p>
          <a:p>
            <a:r>
              <a:rPr lang="zh-CN" dirty="0"/>
              <a:t>目标路径:</a:t>
            </a:r>
          </a:p>
          <a:p>
            <a:r>
              <a:rPr lang="zh-CN" dirty="0"/>
              <a:t>[/api/login] 300（50.0%）</a:t>
            </a:r>
          </a:p>
          <a:p>
            <a:r>
              <a:rPr lang="zh-CN" dirty="0"/>
              <a:t>二：Host: www.example.test；300 事件，占 Zone 30.0%</a:t>
            </a:r>
          </a:p>
          <a:p>
            <a:r>
              <a:rPr lang="zh-CN" dirty="0"/>
              <a:t>防护: block 90.0%；allow 10.0%；challenge 0.0%</a:t>
            </a:r>
          </a:p>
          <a:p>
            <a:r>
              <a:rPr lang="zh-CN" dirty="0"/>
              <a:t>目标路径:</a:t>
            </a:r>
          </a:p>
          <a:p>
            <a:r>
              <a:rPr lang="zh-CN" dirty="0"/>
              <a:t>[/api/login] 30（10.0%）</a:t>
            </a:r>
          </a:p>
          <a:p>
            <a:r>
              <a:rPr lang="zh-CN" dirty="0"/>
              <a:t>人工核验处理建议:</a:t>
            </a:r>
          </a:p>
          <a:p>
            <a:r>
              <a:rPr lang="zh-CN" dirty="0"/>
              <a:t>按相同窗口人工核验 Cloudflare Dashboard：</a:t>
            </a:r>
          </a:p>
          <a:p>
            <a:r>
              <a:rPr lang="en-US" dirty="0"/>
              <a:t>https://dash.cloudflare.com/</a:t>
            </a:r>
          </a:p>
          <a:p>
            <a:r>
              <a:rPr lang="zh-CN" dirty="0"/>
              <a:t>各排名相互独立，事件可能采样。</a:t>
            </a:r>
          </a:p>
          <a:p>
            <a:r>
              <a:rPr lang="zh-CN" dirty="0"/>
              <a:t>告警时间: 2026-09-14 17:18:46 GMT+8</a:t>
            </a:r>
          </a:p>
          <a:p>
            <a:r>
              <a:rPr lang="zh-CN" dirty="0"/>
              <a:t>分析窗口: 2026-09-14 16:48:46 GMT+8 - 2026-09-14 17:20:00 GMT+8</a:t>
            </a:r>
          </a:p>
          <a:p>
            <a:r>
              <a:rPr lang="zh-CN" dirty="0"/>
              <a:t>数据截至: 2026-09-14 17:20:00 GMT+8</a:t>
            </a:r>
          </a:p>
          <a:p>
            <a:r>
              <a:rPr lang="zh-CN" dirty="0"/>
              <a:t>覆盖: 已分析 2 个 Host；采集失败 0 个；事件覆盖估计 90.0%</a:t>
            </a:r>
          </a:p>
          <a:p>
            <a:r>
              <a:rPr lang="en-US" dirty="0"/>
              <a:t>incident_id: demo-incident-001</a:t>
            </a:r>
          </a:p>
          <a:p>
            <a:r>
              <a:rPr lang="en-US" dirty="0"/>
              <a:t>correlation_id: demo-correlation-001</a:t>
            </a:r>
          </a:p>
          <a:p>
            <a:endParaRPr lang="en-US" dirty="0"/>
          </a:p>
          <a:p>
            <a:r>
              <a:rPr lang="zh-CN" dirty="0"/>
              <a:t>【不逐字朗读】完整通知用于会前排练和会后查看，现场只指页面摘要。教学示例集中展示路径和防护，省略其他可选维度，未声称为程序生成的原始输出。</a:t>
            </a:r>
          </a:p>
          <a:p>
            <a:r>
              <a:rPr lang="zh-CN" dirty="0"/>
              <a:t>【过渡】最后看如何验证它确实按这些边界运行。</a:t>
            </a:r>
          </a:p>
          <a:p>
            <a:r>
              <a:rPr lang="zh-CN" dirty="0"/>
              <a:t>【依据】src/notification/host-formatter.ts；Host 分母与覆盖规则；案例数值为本次分享虚构。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1:30；累计 23:30。</a:t>
            </a:r>
          </a:p>
          <a:p>
            <a:endParaRPr lang="en-US" dirty="0"/>
          </a:p>
          <a:p>
            <a:r>
              <a:rPr lang="zh-CN" dirty="0"/>
              <a:t>测试不只验证一条正常路径。第一层是数据契约与纯函数：Schema、窗口、Host 分母、证据支持、样本口径。第二层是 Workers 运行时：路由、Queue binding、Fetch Mock 和外部失败组合。不能只在普通 Node 环境跑过就假定 bindings 正常。</a:t>
            </a:r>
          </a:p>
          <a:p>
            <a:endParaRPr lang="en-US" dirty="0"/>
          </a:p>
          <a:p>
            <a:r>
              <a:rPr lang="zh-CN" dirty="0"/>
              <a:t>第三层是安全与通知边界。需要检查日志不泄露 Token、Prompt 或模型原文；通知在 2000 UTF-8 字节预算下仍然保留必要状态、窗口和完整 ID；压缩时整项省略，而不是截掉半条结论。第四层是有授权后的真实接口核验，在 Dashboard 选择同一窗口、同一 Host，对照聚合与采样差异。</a:t>
            </a:r>
          </a:p>
          <a:p>
            <a:endParaRPr lang="en-US" dirty="0"/>
          </a:p>
          <a:p>
            <a:r>
              <a:rPr lang="zh-CN" dirty="0"/>
              <a:t>OpenSpec 在这个过程中明确需求和契约变化；先写失败测试，再做实现，最后做类型、Lint、测试和影响检查。Mock 能证明程序对给定响应的处理行为，但不能替代真实模型兼容性与部署验收。</a:t>
            </a:r>
          </a:p>
          <a:p>
            <a:endParaRPr lang="en-US" dirty="0"/>
          </a:p>
          <a:p>
            <a:r>
              <a:rPr lang="zh-CN" dirty="0"/>
              <a:t>【过渡】因此项目进展也应该分层说明。</a:t>
            </a:r>
          </a:p>
          <a:p>
            <a:r>
              <a:rPr lang="zh-CN" dirty="0"/>
              <a:t>【依据】test/unit；test/integration；docs/deployment-verification.md；Host verification.md。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【计时】本页 1:00；累计 24:30。</a:t>
            </a:r>
          </a:p>
          <a:p>
            <a:endParaRPr lang="en-US" dirty="0"/>
          </a:p>
          <a:p>
            <a:r>
              <a:rPr lang="zh-CN" dirty="0"/>
              <a:t>当前代码已经具备固定窗口、Host 独立分析、结构化引用、降级与通知，仓库也记录了本地质量门禁通过。但真实接口证据要单独看：9 月 29 日 AI v3 单 Host 烟测三次通过两次，一次因正文超预算被拒绝，尚未达到三次全部通过的门槛。</a:t>
            </a:r>
          </a:p>
          <a:p>
            <a:endParaRPr lang="en-US" dirty="0"/>
          </a:p>
          <a:p>
            <a:r>
              <a:rPr lang="zh-CN" dirty="0"/>
              <a:t>之后有一次指定历史窗口的数据模拟成功，也有一条此前版式的通知获得机器人成功回执。这些都是真实的阶段性证据，但不能抹去前面的失败，也不能代表后来调整的版式已经发送，或者线上 Webhook 和 Queue 已经端到端验收。</a:t>
            </a:r>
          </a:p>
          <a:p>
            <a:endParaRPr lang="en-US" dirty="0"/>
          </a:p>
          <a:p>
            <a:r>
              <a:rPr lang="zh-CN" dirty="0"/>
              <a:t>后续仍需补齐三 Host、五 Host 场景的模型兼容性，当前通知版式和线上链路验收。本次分享不使用真实事件实体，也没有重新调用服务或部署。</a:t>
            </a:r>
          </a:p>
          <a:p>
            <a:endParaRPr lang="en-US" dirty="0"/>
          </a:p>
          <a:p>
            <a:r>
              <a:rPr lang="zh-CN" dirty="0"/>
              <a:t>【来源细节，问及时再说】优先依据 openspec/changes/host-scoped-alert-analysis/verification.md 的“通知展示调整与真实发送”及后续排版记录。其他概览文档中“尚未发送”的描述较早，不能覆盖后续成功回执。成功回执仅证明机器人接口接受文本，不证明人员已阅读。</a:t>
            </a:r>
          </a:p>
          <a:p>
            <a:r>
              <a:rPr lang="zh-CN" dirty="0"/>
              <a:t>【过渡】最后留下三个可复用的经验。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【计时】总结 0:30，累计正文 25:00；讨论 3:00，累计 28:00；保留 2:00 机动。</a:t>
            </a:r>
          </a:p>
          <a:p>
            <a:endParaRPr lang="en-US" dirty="0"/>
          </a:p>
          <a:p>
            <a:r>
              <a:rPr lang="zh-CN" dirty="0"/>
              <a:t>第一，固定口径：时间窗口和每一个分母都必须明确。第二，约束表达：让结论具有可校验的支持条件，也允许模型回答 Unknown。第三，保留降级：AI 不可用时，统计和规则仍然能提供价值。这三个原则都可以迁移到其他运维与安全分析场景。</a:t>
            </a:r>
          </a:p>
          <a:p>
            <a:endParaRPr lang="en-US" dirty="0"/>
          </a:p>
          <a:p>
            <a:r>
              <a:rPr lang="zh-CN" dirty="0"/>
              <a:t>【讨论主问题】你最希望通知补充哪一种可核验的证据？先听两位同事的回答，再区分已有数据能支持的改进和需要新契约、新采集能力的改进。讨论最多 3 分钟，不在现场承诺扩大生产权限。</a:t>
            </a:r>
          </a:p>
          <a:p>
            <a:endParaRPr lang="en-US" dirty="0"/>
          </a:p>
          <a:p>
            <a:r>
              <a:rPr lang="zh-CN" dirty="0"/>
              <a:t>【备选问答】</a:t>
            </a:r>
          </a:p>
          <a:p>
            <a:r>
              <a:rPr lang="zh-CN" dirty="0"/>
              <a:t>1. 为什么不自动封禁？本项目定位为只读辅助研判，当前证据不能充分证明意图和业务影响；自动变更需要独立设计与授权。</a:t>
            </a:r>
          </a:p>
          <a:p>
            <a:r>
              <a:rPr lang="zh-CN" dirty="0"/>
              <a:t>2. 为什么经常是 Unknown？当前支持范围有意收紧，Unknown 比无依据的具体攻击标签更准确。不能以降低 Unknown 为目标放宽支持条件。</a:t>
            </a:r>
          </a:p>
          <a:p>
            <a:r>
              <a:rPr lang="zh-CN" dirty="0"/>
              <a:t>3. 为什么没有数据库？一次快照通知不需要持久化生命周期；若将来需要历史检索或幂等存储，应作为新的架构变更评估。</a:t>
            </a:r>
          </a:p>
          <a:p>
            <a:r>
              <a:rPr lang="zh-CN" dirty="0"/>
              <a:t>4. block 100% 是否表示完全安全？只说明本 Host 本次快照中观测到的事件都标记为 block，不证明全部攻击被阻止，也不代表业务没有其他风险。</a:t>
            </a:r>
          </a:p>
          <a:p>
            <a:r>
              <a:rPr lang="zh-CN" dirty="0"/>
              <a:t>5. 如何保证通知只发一次？当前不能保证。Queue 至少一次投递，完整 ID 用于追踪；持久化幂等不在当前范围。</a:t>
            </a:r>
          </a:p>
          <a:p>
            <a:endParaRPr lang="en-US" dirty="0"/>
          </a:p>
          <a:p>
            <a:r>
              <a:rPr lang="zh-CN" dirty="0"/>
              <a:t>【控时】若前面超时，保留一句总结，将讨论压缩到 1 分钟。超过当前证据范围的问题记录为后续议题，确保总时长不超过 30 分钟。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548640"/>
            <a:ext cx="4300423" cy="3062097"/>
            <a:chOff x="590550" y="548640"/>
            <a:chExt cx="4300423" cy="3062097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486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团队内部技术分享 / 2026.09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491615"/>
              <a:ext cx="426982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Cloudflare AI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291715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告警分析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6458" y="3141345"/>
              <a:ext cx="42745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从 WAF 告警到有证据的研判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1886" y="4400550"/>
            <a:ext cx="10894314" cy="1224534"/>
            <a:chOff x="611886" y="4400550"/>
            <a:chExt cx="10894314" cy="1224534"/>
          </a:xfrm>
        </p:grpSpPr>
        <p:sp>
          <p:nvSpPr>
            <p:cNvPr id="8" name="Line 8"/>
            <p:cNvSpPr/>
            <p:nvPr/>
          </p:nvSpPr>
          <p:spPr>
            <a:xfrm>
              <a:off x="628650" y="4457700"/>
              <a:ext cx="10877550" cy="9525"/>
            </a:xfrm>
            <a:custGeom>
              <a:avLst/>
              <a:gdLst/>
              <a:ahLst/>
              <a:cxnLst/>
              <a:rect l="l" t="t" r="r" b="b"/>
              <a:pathLst>
                <a:path w="10877550" h="9525">
                  <a:moveTo>
                    <a:pt x="0" y="0"/>
                  </a:moveTo>
                  <a:lnTo>
                    <a:pt x="10877550" y="0"/>
                  </a:lnTo>
                </a:path>
              </a:pathLst>
            </a:custGeom>
            <a:noFill/>
            <a:ln w="28575">
              <a:solidFill>
                <a:srgbClr val="D8DFD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28650" y="4400550"/>
              <a:ext cx="2476500" cy="114300"/>
            </a:xfrm>
            <a:prstGeom prst="rect">
              <a:avLst/>
            </a:prstGeom>
            <a:solidFill>
              <a:srgbClr val="D9562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400550" y="4400550"/>
              <a:ext cx="2476500" cy="114300"/>
            </a:xfrm>
            <a:prstGeom prst="rect">
              <a:avLst/>
            </a:prstGeom>
            <a:solidFill>
              <a:srgbClr val="20262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191500" y="4400550"/>
              <a:ext cx="3314700" cy="114300"/>
            </a:xfrm>
            <a:prstGeom prst="rect">
              <a:avLst/>
            </a:prstGeom>
            <a:solidFill>
              <a:srgbClr val="16775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1886" y="4692015"/>
              <a:ext cx="9664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告警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83786" y="4692015"/>
              <a:ext cx="9664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74736" y="4692015"/>
              <a:ext cx="9664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研判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9506" y="5273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1406" y="52730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固定窗口 · 独立统计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2356" y="527304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受约束分析 · 人工核验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356985"/>
              <a:ext cx="2201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Cloudflare AI Alert Analyzer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030402" cy="1018794"/>
            <a:chOff x="592836" y="508635"/>
            <a:chExt cx="7030402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01 / 为什么做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0304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原始告警，只告诉我们发生了异常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971675"/>
            <a:ext cx="4514850" cy="3505200"/>
            <a:chOff x="609600" y="1971675"/>
            <a:chExt cx="4514850" cy="3505200"/>
          </a:xfrm>
        </p:grpSpPr>
        <p:sp>
          <p:nvSpPr>
            <p:cNvPr id="6" name="Rectangle 6"/>
            <p:cNvSpPr/>
            <p:nvPr/>
          </p:nvSpPr>
          <p:spPr>
            <a:xfrm>
              <a:off x="609600" y="1971675"/>
              <a:ext cx="4514850" cy="35052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71675"/>
              <a:ext cx="57150" cy="3505200"/>
            </a:xfrm>
            <a:prstGeom prst="rect">
              <a:avLst/>
            </a:prstGeom>
            <a:solidFill>
              <a:srgbClr val="D9562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4306" y="2234565"/>
              <a:ext cx="3423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WAF 安全事件异常 · 虚构示例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1258" y="2731770"/>
              <a:ext cx="22464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example.test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400" y="3295650"/>
              <a:ext cx="23703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D95625"/>
                  </a:solidFill>
                  <a:latin typeface="Arial"/>
                  <a:ea typeface="Arial"/>
                  <a:cs typeface="Arial"/>
                </a:rPr>
                <a:t>1,000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4306" y="41871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告警参考事件数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4306" y="4815840"/>
              <a:ext cx="1564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Action: allow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79008" y="2074545"/>
            <a:ext cx="5803392" cy="3455289"/>
            <a:chOff x="5779008" y="2074545"/>
            <a:chExt cx="5803392" cy="3455289"/>
          </a:xfrm>
        </p:grpSpPr>
        <p:sp>
          <p:nvSpPr>
            <p:cNvPr id="14" name="TextBox 14"/>
            <p:cNvSpPr txBox="1"/>
            <p:nvPr/>
          </p:nvSpPr>
          <p:spPr>
            <a:xfrm>
              <a:off x="5779008" y="2074545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来源是谁？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82056" y="2491740"/>
              <a:ext cx="248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IP、国家 / 地区、ASN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91200" y="2924175"/>
              <a:ext cx="5791200" cy="9525"/>
            </a:xfrm>
            <a:custGeom>
              <a:avLst/>
              <a:gdLst/>
              <a:ahLst/>
              <a:cxnLst/>
              <a:rect l="l" t="t" r="r" b="b"/>
              <a:pathLst>
                <a:path w="5791200" h="9525">
                  <a:moveTo>
                    <a:pt x="0" y="0"/>
                  </a:moveTo>
                  <a:lnTo>
                    <a:pt x="57912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79008" y="308419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目标是什么？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82056" y="3501390"/>
              <a:ext cx="28443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哪个 Host，哪些请求路径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91200" y="3933825"/>
              <a:ext cx="5791200" cy="9525"/>
            </a:xfrm>
            <a:custGeom>
              <a:avLst/>
              <a:gdLst/>
              <a:ahLst/>
              <a:cxnLst/>
              <a:rect l="l" t="t" r="r" b="b"/>
              <a:pathLst>
                <a:path w="5791200" h="9525">
                  <a:moveTo>
                    <a:pt x="0" y="0"/>
                  </a:moveTo>
                  <a:lnTo>
                    <a:pt x="57912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79008" y="4093845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防护如何，下一步做什么？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82056" y="4568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处理分布、依据与人工核验方向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2056" y="5177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事件增加，不等于攻击已被证实。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356985"/>
              <a:ext cx="4281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需求背景 · 告警值仅作参考，后续比例来自 GraphQL 快照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6563944" cy="1018794"/>
            <a:chOff x="592836" y="508635"/>
            <a:chExt cx="6563944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01 / 为什么做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把问题收敛到一次有依据的研判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2063115"/>
            <a:ext cx="10991850" cy="3561969"/>
            <a:chOff x="590550" y="2063115"/>
            <a:chExt cx="10991850" cy="3561969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2063115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只读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88308" y="217932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读取安全事件，输出核验建议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91356" y="2663190"/>
              <a:ext cx="4153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不自动修改 WAF，也不执行生产变更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152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0550" y="3368040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一次快照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88308" y="348424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固定窗口，完成一轮数据采集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91356" y="396811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不等待收敛，不持续追踪事件生命周期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457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0550" y="4672965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辅助研判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8308" y="478917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保留事实、限定语与可追踪标识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91356" y="52730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由运维与安全人员核验，决定是否处置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356985"/>
              <a:ext cx="35704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项目边界 · Read Only + Analysis + Notification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6563944" cy="1018794"/>
            <a:chOff x="592836" y="508635"/>
            <a:chExt cx="6563944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01 / 为什么做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从事件数量，到可核验的上下文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5884" y="1967865"/>
            <a:ext cx="2626766" cy="3238119"/>
            <a:chOff x="595884" y="1967865"/>
            <a:chExt cx="2626766" cy="3238119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9678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原始告警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5884" y="2470785"/>
              <a:ext cx="2527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example.test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3055620"/>
              <a:ext cx="26252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1,000 个参考事件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7408" y="3550920"/>
              <a:ext cx="20865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Action: allow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4472940"/>
              <a:ext cx="2273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仍需打开 Dashboard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853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逐项补齐上下文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57750" y="1885950"/>
            <a:ext cx="6724650" cy="4010025"/>
            <a:chOff x="4857750" y="1885950"/>
            <a:chExt cx="6724650" cy="4010025"/>
          </a:xfrm>
        </p:grpSpPr>
        <p:sp>
          <p:nvSpPr>
            <p:cNvPr id="13" name="Rectangle 13"/>
            <p:cNvSpPr/>
            <p:nvPr/>
          </p:nvSpPr>
          <p:spPr>
            <a:xfrm>
              <a:off x="4857750" y="1885950"/>
              <a:ext cx="6724650" cy="4010025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1885950"/>
              <a:ext cx="6724650" cy="57150"/>
            </a:xfrm>
            <a:prstGeom prst="rect">
              <a:avLst/>
            </a:prstGeom>
            <a:solidFill>
              <a:srgbClr val="1677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53406" y="2158365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分析通知 · 虚构摘要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50358" y="2665095"/>
              <a:ext cx="56049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api.example.test：600 个快照事件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3406" y="3168015"/>
              <a:ext cx="3950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/api/login：300，占本 Host 50.0%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53406" y="35585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allow 80.0% · block 20.0%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162550" y="4057650"/>
              <a:ext cx="6115050" cy="9525"/>
            </a:xfrm>
            <a:custGeom>
              <a:avLst/>
              <a:gdLst/>
              <a:ahLst/>
              <a:cxnLst/>
              <a:rect l="l" t="t" r="r" b="b"/>
              <a:pathLst>
                <a:path w="6115050" h="9525">
                  <a:moveTo>
                    <a:pt x="0" y="0"/>
                  </a:moveTo>
                  <a:lnTo>
                    <a:pt x="611505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53406" y="42824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按同一窗口核验来源、路径与防护分布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3406" y="46729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排名相互独立，事件可能采样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53406" y="5206365"/>
              <a:ext cx="4153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附固定窗口、覆盖范围与完整追踪 ID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356985"/>
              <a:ext cx="370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内容示意，非真实机器人截图 · 完整案例见第 12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5164569" cy="1018794"/>
            <a:chOff x="592836" y="508635"/>
            <a:chExt cx="5164569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02 / 如何实现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快速接收，异步完成分析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76500" y="2667000"/>
            <a:ext cx="7239000" cy="9525"/>
            <a:chOff x="2476500" y="2667000"/>
            <a:chExt cx="7239000" cy="9525"/>
          </a:xfrm>
        </p:grpSpPr>
        <p:sp>
          <p:nvSpPr>
            <p:cNvPr id="6" name="Line 6"/>
            <p:cNvSpPr/>
            <p:nvPr/>
          </p:nvSpPr>
          <p:spPr>
            <a:xfrm>
              <a:off x="2476500" y="266700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752975" y="266700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029450" y="266700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305925" y="266700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09600" y="2133600"/>
            <a:ext cx="10972800" cy="1066800"/>
            <a:chOff x="609600" y="2133600"/>
            <a:chExt cx="10972800" cy="1066800"/>
          </a:xfrm>
        </p:grpSpPr>
        <p:sp>
          <p:nvSpPr>
            <p:cNvPr id="11" name="Rectangle 11"/>
            <p:cNvSpPr/>
            <p:nvPr/>
          </p:nvSpPr>
          <p:spPr>
            <a:xfrm>
              <a:off x="609600" y="2133600"/>
              <a:ext cx="1866900" cy="1066800"/>
            </a:xfrm>
            <a:prstGeom prst="rect">
              <a:avLst/>
            </a:prstGeom>
            <a:solidFill>
              <a:srgbClr val="FF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7085" y="2322195"/>
              <a:ext cx="15119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WAF 告警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248" y="2767965"/>
              <a:ext cx="10076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Webhook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86075" y="2133600"/>
              <a:ext cx="1866900" cy="10668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54291" y="2322195"/>
              <a:ext cx="13304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fetch()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86417" y="2767965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校验 · 入队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62550" y="2133600"/>
              <a:ext cx="1866900" cy="10668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84533" y="2322195"/>
              <a:ext cx="12229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Queues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02224" y="27679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延迟投递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439025" y="2133600"/>
              <a:ext cx="1866900" cy="10668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07241" y="2322195"/>
              <a:ext cx="13304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queue()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8699" y="27679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执行分析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715500" y="2133600"/>
              <a:ext cx="1866900" cy="1066800"/>
            </a:xfrm>
            <a:prstGeom prst="rect">
              <a:avLst/>
            </a:prstGeom>
            <a:solidFill>
              <a:srgbClr val="E8F3E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58273" y="23221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企业微信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55174" y="27679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单条通知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97408" y="3627120"/>
            <a:ext cx="8570062" cy="2197989"/>
            <a:chOff x="597408" y="3627120"/>
            <a:chExt cx="8570062" cy="2197989"/>
          </a:xfrm>
        </p:grpSpPr>
        <p:sp>
          <p:nvSpPr>
            <p:cNvPr id="27" name="TextBox 27"/>
            <p:cNvSpPr txBox="1"/>
            <p:nvPr/>
          </p:nvSpPr>
          <p:spPr>
            <a:xfrm>
              <a:off x="597408" y="3627120"/>
              <a:ext cx="30606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入队成功才返回 202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0456" y="41300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入口固定窗口，不等待外部分析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238750" y="3695700"/>
              <a:ext cx="9525" cy="1828800"/>
            </a:xfrm>
            <a:custGeom>
              <a:avLst/>
              <a:gdLst/>
              <a:ahLst/>
              <a:cxnLst/>
              <a:rect l="l" t="t" r="r" b="b"/>
              <a:pathLst>
                <a:path w="9525" h="1828800">
                  <a:moveTo>
                    <a:pt x="0" y="0"/>
                  </a:moveTo>
                  <a:lnTo>
                    <a:pt x="0" y="182880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40908" y="3627120"/>
              <a:ext cx="23817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Consumer 内部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3956" y="4177665"/>
              <a:ext cx="3196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GraphQL → Host 统计 → 规则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43956" y="4615815"/>
              <a:ext cx="3423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证据目录 → AI / 降级 → 格式化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0456" y="5473065"/>
              <a:ext cx="4833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同一个 Worker，两个 Handler，职责清晰。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356985"/>
              <a:ext cx="5593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src/api · src/pipeline · src/analyzers · src/clients · src/notification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963319" cy="1018794"/>
            <a:chOff x="592836" y="508635"/>
            <a:chExt cx="7963319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02 / 如何实现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9633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让平台承担基础设施，让代码聚焦分析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7408" y="1960245"/>
            <a:ext cx="10984992" cy="3784092"/>
            <a:chOff x="597408" y="1960245"/>
            <a:chExt cx="10984992" cy="37840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1960245"/>
              <a:ext cx="14094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Workers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21683" y="1960245"/>
              <a:ext cx="3810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原生 Handler + Fetch API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24731" y="24250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接收告警、编排分析，无需维护服务器进程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867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7408" y="3065145"/>
              <a:ext cx="12229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Queues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21683" y="3065145"/>
              <a:ext cx="298063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异步任务 + 延迟投递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4731" y="3529965"/>
              <a:ext cx="5087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脱离 HTTP 生命周期，接受至少一次投递语义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971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7408" y="4170045"/>
              <a:ext cx="27909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TypeScript + Zod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21683" y="4170045"/>
              <a:ext cx="33037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类型约束 + 运行时校验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24731" y="4634865"/>
              <a:ext cx="51549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Webhook、Queue、配置与外部响应都要过边界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50768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5274945"/>
              <a:ext cx="29483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6775B"/>
                  </a:solidFill>
                  <a:latin typeface="Arial"/>
                  <a:ea typeface="Arial"/>
                  <a:cs typeface="Arial"/>
                </a:rPr>
                <a:t>Vitest + Wrangler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21683" y="5274945"/>
              <a:ext cx="40467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Workers 测试与部署工具链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356985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架构取舍 · 无数据库和历史检索；不承诺通知恰好一次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963319" cy="1018794"/>
            <a:chOff x="592836" y="508635"/>
            <a:chExt cx="7963319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02 / 如何实现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9633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同一条告警，始终使用同一个时间窗口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7408" y="1805940"/>
            <a:ext cx="10041331" cy="3890772"/>
            <a:chOff x="597408" y="1805940"/>
            <a:chExt cx="10041331" cy="3890772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805940"/>
              <a:ext cx="3589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虚构时间 · UTC · 时间轴非等比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428750" y="3333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rgbClr val="D8DFD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428750" y="3333750"/>
              <a:ext cx="8667750" cy="9525"/>
            </a:xfrm>
            <a:custGeom>
              <a:avLst/>
              <a:gdLst/>
              <a:ahLst/>
              <a:cxnLst/>
              <a:rect l="l" t="t" r="r" b="b"/>
              <a:pathLst>
                <a:path w="8667750" h="9525">
                  <a:moveTo>
                    <a:pt x="0" y="0"/>
                  </a:moveTo>
                  <a:lnTo>
                    <a:pt x="8667750" y="0"/>
                  </a:lnTo>
                </a:path>
              </a:pathLst>
            </a:custGeom>
            <a:noFill/>
            <a:ln w="76200">
              <a:solidFill>
                <a:srgbClr val="16775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33500" y="3238500"/>
              <a:ext cx="190500" cy="190500"/>
            </a:xfrm>
            <a:prstGeom prst="ellipse">
              <a:avLst/>
            </a:prstGeom>
            <a:solidFill>
              <a:srgbClr val="16775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667250" y="3238500"/>
              <a:ext cx="190500" cy="190500"/>
            </a:xfrm>
            <a:prstGeom prst="ellipse">
              <a:avLst/>
            </a:prstGeom>
            <a:solidFill>
              <a:srgbClr val="D95625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334250" y="3238500"/>
              <a:ext cx="190500" cy="190500"/>
            </a:xfrm>
            <a:prstGeom prst="ellipse">
              <a:avLst/>
            </a:prstGeom>
            <a:solidFill>
              <a:srgbClr val="20262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001250" y="3238500"/>
              <a:ext cx="190500" cy="190500"/>
            </a:xfrm>
            <a:prstGeom prst="ellipse">
              <a:avLst/>
            </a:prstGeom>
            <a:solidFill>
              <a:srgbClr val="1677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4974" y="25012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窗口开始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511" y="2844165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08:48:46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8724" y="3663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告警时间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20261" y="403479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09:18:46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44782" y="2501265"/>
              <a:ext cx="1569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Webhook 接收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7261" y="2844165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09:19:00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02724" y="3663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固定截止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54261" y="403479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09:20:00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408" y="4732020"/>
              <a:ext cx="39935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开始 = 告警时间 − 30 分钟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408" y="5227320"/>
              <a:ext cx="36542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截止 = 接收时间 + 60 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6506" y="4796790"/>
              <a:ext cx="23586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通过 Queue 延迟投递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6506" y="51968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消费晚到或重试，截止不变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356985"/>
              <a:ext cx="5456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query_started_at 是逻辑截止；processing_started_at 仅用于耗时观测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839004" cy="1018794"/>
            <a:chOff x="592836" y="508635"/>
            <a:chExt cx="7839004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02 / 如何实现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83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相同路径，不同 Host，不同数据口径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7408" y="1777365"/>
            <a:ext cx="10984992" cy="4181094"/>
            <a:chOff x="597408" y="1777365"/>
            <a:chExt cx="10984992" cy="418109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77365"/>
              <a:ext cx="5387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虚构示例 · Zone 快照总量 1,000 · 同一固定窗口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2266950"/>
              <a:ext cx="10972800" cy="619125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056" y="2472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统计对象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62856" y="2472690"/>
              <a:ext cx="1124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Host 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2656" y="2472690"/>
              <a:ext cx="11692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/api/login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82506" y="2472690"/>
              <a:ext cx="1369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Host 内占比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27070"/>
              <a:ext cx="2907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api.example.test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59808" y="3227070"/>
              <a:ext cx="557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600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69608" y="3227070"/>
              <a:ext cx="557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300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4886" y="3129915"/>
              <a:ext cx="1409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D95625"/>
                  </a:solidFill>
                  <a:latin typeface="Arial"/>
                  <a:ea typeface="Arial"/>
                  <a:cs typeface="Arial"/>
                </a:rPr>
                <a:t>50.0%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838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6008" y="4198620"/>
              <a:ext cx="31963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www.example.test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9808" y="4198620"/>
              <a:ext cx="557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300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69608" y="419862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74886" y="4101465"/>
              <a:ext cx="1409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16775B"/>
                  </a:solidFill>
                  <a:latin typeface="Arial"/>
                  <a:ea typeface="Arial"/>
                  <a:cs typeface="Arial"/>
                </a:rPr>
                <a:t>10.0%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81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408" y="5103495"/>
              <a:ext cx="67504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Zone 合并值 33.0%，掩盖了 Host 间差异。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5606415"/>
              <a:ext cx="7474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先发现 Top Host，再精确过滤；样本 UA 比例另用非空 UA 样本数。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356985"/>
              <a:ext cx="549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示例余下 100 事件位于其他 Host，且不含 /api/login · 采集失败不能记为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993243" cy="1018794"/>
            <a:chOff x="592836" y="508635"/>
            <a:chExt cx="7993243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275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03 / 如何约束 AI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99324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程序计算事实，AI 提出受约束的判断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1929765"/>
            <a:ext cx="10991850" cy="4033647"/>
            <a:chOff x="590550" y="1929765"/>
            <a:chExt cx="10991850" cy="4033647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929765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程序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86550" y="1929765"/>
              <a:ext cx="6474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6775B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943600" y="2038350"/>
              <a:ext cx="9525" cy="2962275"/>
            </a:xfrm>
            <a:custGeom>
              <a:avLst/>
              <a:gdLst/>
              <a:ahLst/>
              <a:cxnLst/>
              <a:rect l="l" t="t" r="r" b="b"/>
              <a:pathLst>
                <a:path w="9525" h="2962275">
                  <a:moveTo>
                    <a:pt x="0" y="0"/>
                  </a:moveTo>
                  <a:lnTo>
                    <a:pt x="0" y="2962275"/>
                  </a:lnTo>
                </a:path>
              </a:pathLst>
            </a:custGeom>
            <a:noFill/>
            <a:ln w="19050">
              <a:solidFill>
                <a:srgbClr val="D8DFD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300799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总量、比例、速率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363664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规则关注等级、证据目录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426529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支持校验、通知模板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93408" y="300799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受控观察与核验建议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3408" y="36366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逐条绑定证据引用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3408" y="4265295"/>
              <a:ext cx="37210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证据不足时返回 Unknown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5343525"/>
              <a:ext cx="10972800" cy="619125"/>
            </a:xfrm>
            <a:prstGeom prst="rect">
              <a:avLst/>
            </a:prstGeom>
            <a:solidFill>
              <a:srgbClr val="E8F3E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2208" y="5494020"/>
              <a:ext cx="73257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Unknown 是有效结果；模型自评不是攻击概率。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356985"/>
              <a:ext cx="54354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当前支持策略仅开放有条件的疑似 Bot；其他具体攻击类型不作无依据判断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6097486" cy="1018794"/>
            <a:chOff x="592836" y="508635"/>
            <a:chExt cx="6097486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275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03 / 如何约束 AI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609748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引用存在，还要确实支持结论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38450" y="2714625"/>
            <a:ext cx="6515100" cy="9525"/>
            <a:chOff x="2838450" y="2714625"/>
            <a:chExt cx="6515100" cy="9525"/>
          </a:xfrm>
        </p:grpSpPr>
        <p:sp>
          <p:nvSpPr>
            <p:cNvPr id="6" name="Line 6"/>
            <p:cNvSpPr/>
            <p:nvPr/>
          </p:nvSpPr>
          <p:spPr>
            <a:xfrm>
              <a:off x="2838450" y="27146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53100" y="27146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667750" y="27146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626D6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2124075"/>
            <a:ext cx="10972800" cy="1181100"/>
            <a:chOff x="609600" y="2124075"/>
            <a:chExt cx="10972800" cy="1181100"/>
          </a:xfrm>
        </p:grpSpPr>
        <p:sp>
          <p:nvSpPr>
            <p:cNvPr id="10" name="Rectangle 10"/>
            <p:cNvSpPr/>
            <p:nvPr/>
          </p:nvSpPr>
          <p:spPr>
            <a:xfrm>
              <a:off x="609600" y="2124075"/>
              <a:ext cx="2228850" cy="11811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3348" y="23221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证据目录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0465" y="2806065"/>
              <a:ext cx="2107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来源 · Host · 分母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24250" y="2124075"/>
              <a:ext cx="2228850" cy="11811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47998" y="23221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结构校验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74037" y="2806065"/>
              <a:ext cx="1329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JSON + Zod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438900" y="2124075"/>
              <a:ext cx="2228850" cy="1181100"/>
            </a:xfrm>
            <a:prstGeom prst="rect">
              <a:avLst/>
            </a:prstGeom>
            <a:solidFill>
              <a:srgbClr val="E8F3E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62648" y="23221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支持校验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38570" y="2806065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归属 · 类型 · 条件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353550" y="2124075"/>
              <a:ext cx="2228850" cy="11811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77298" y="23221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模板通知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0725" y="28060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程序取值和渲染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7408" y="3884295"/>
            <a:ext cx="10984992" cy="1897380"/>
            <a:chOff x="597408" y="3884295"/>
            <a:chExt cx="10984992" cy="1897380"/>
          </a:xfrm>
        </p:grpSpPr>
        <p:sp>
          <p:nvSpPr>
            <p:cNvPr id="23" name="TextBox 23"/>
            <p:cNvSpPr txBox="1"/>
            <p:nvPr/>
          </p:nvSpPr>
          <p:spPr>
            <a:xfrm>
              <a:off x="597408" y="3884295"/>
              <a:ext cx="51130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反例：独立排名不能证明联合关系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4511040"/>
              <a:ext cx="4621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事实：Top IP 占 60% ；/api/login 占 50%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5076825"/>
              <a:ext cx="10972800" cy="704850"/>
            </a:xfrm>
            <a:prstGeom prst="rect">
              <a:avLst/>
            </a:prstGeom>
            <a:solidFill>
              <a:srgbClr val="FFF0E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008" y="5284470"/>
              <a:ext cx="80296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拒绝推断：「这个 IP 正在对登录接口实施暴力破解」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356985"/>
              <a:ext cx="4721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示例为教学反例 · 引用与支持校验也不能证明攻击意图或业务损失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6563944" cy="1018794"/>
            <a:chOff x="592836" y="508635"/>
            <a:chExt cx="6563944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275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03 / 如何约束 AI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局部失败，保留已经获得的结果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933575"/>
            <a:ext cx="10972800" cy="3610737"/>
            <a:chOff x="609600" y="1933575"/>
            <a:chExt cx="10972800" cy="3610737"/>
          </a:xfrm>
        </p:grpSpPr>
        <p:sp>
          <p:nvSpPr>
            <p:cNvPr id="6" name="Rectangle 6"/>
            <p:cNvSpPr/>
            <p:nvPr/>
          </p:nvSpPr>
          <p:spPr>
            <a:xfrm>
              <a:off x="609600" y="1933575"/>
              <a:ext cx="10972800" cy="59055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2139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失败位置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15206" y="2139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处理方式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87256" y="2139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保留什么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008" y="2788920"/>
              <a:ext cx="2252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某个 Host 采集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15206" y="28536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临时故障有限重试，失败标记未知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87256" y="2853690"/>
              <a:ext cx="16893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其他 Host 结果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362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6008" y="3550920"/>
              <a:ext cx="19014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某个 Host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5206" y="3615690"/>
              <a:ext cx="2918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仅该 Host 降级为规则分析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87256" y="3615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统计与规则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124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6008" y="4312920"/>
              <a:ext cx="14410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AI 根结构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5206" y="4377690"/>
              <a:ext cx="34619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全部 AI 降级，不重放整条消息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7256" y="4377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基础分析通知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886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6008" y="50749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企业微信发送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5206" y="5139690"/>
              <a:ext cx="3640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仅重试发送，最终失败记录并 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87256" y="5139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已生成文本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356985"/>
              <a:ext cx="5507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Queue 至少一次投递，仍可能重复；通知展示 incident_id / correlation_id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963319" cy="1018794"/>
            <a:chOff x="592836" y="508635"/>
            <a:chExt cx="7963319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04 / 案例与验证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9633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走完一次告警：事实先到，判断有边界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7408" y="1891665"/>
            <a:ext cx="3701019" cy="4038219"/>
            <a:chOff x="597408" y="1891665"/>
            <a:chExt cx="3701019" cy="4038219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891665"/>
              <a:ext cx="34095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虚构案例 · 演示选择 2 个 Host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446020"/>
              <a:ext cx="1856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01 固定窗口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910840"/>
              <a:ext cx="31802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08:48:46 至 09:20:00 UTC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7408" y="3474720"/>
              <a:ext cx="1856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02 独立分析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939540"/>
              <a:ext cx="36979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api 600 / www 300 / Zone 1,000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450342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03 受约束输出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968240"/>
              <a:ext cx="3279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攻击类型 Unknown，保留事实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577840"/>
              <a:ext cx="3628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allow 比例 ≠ 已证实的攻击放行率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19750" y="1838325"/>
            <a:ext cx="5962650" cy="4152900"/>
            <a:chOff x="5619750" y="1838325"/>
            <a:chExt cx="5962650" cy="4152900"/>
          </a:xfrm>
        </p:grpSpPr>
        <p:sp>
          <p:nvSpPr>
            <p:cNvPr id="15" name="Rectangle 15"/>
            <p:cNvSpPr/>
            <p:nvPr/>
          </p:nvSpPr>
          <p:spPr>
            <a:xfrm>
              <a:off x="5619750" y="1838325"/>
              <a:ext cx="5962650" cy="4152900"/>
            </a:xfrm>
            <a:prstGeom prst="rect">
              <a:avLst/>
            </a:prstGeom>
            <a:solidFill>
              <a:srgbClr val="F3F5F4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619750" y="1838325"/>
              <a:ext cx="57150" cy="4152900"/>
            </a:xfrm>
            <a:prstGeom prst="rect">
              <a:avLst/>
            </a:prstGeom>
            <a:solidFill>
              <a:srgbClr val="1677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6356" y="2063115"/>
              <a:ext cx="40177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【Cloudflare WAF 告警】示例摘要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6356" y="2453640"/>
              <a:ext cx="4481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Zone: example.test · 快照事件: 1,000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6356" y="2920365"/>
              <a:ext cx="39874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一：api.example.test · 600 事件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96356" y="32918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block 20.0% · allow 80.0%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96356" y="3663315"/>
              <a:ext cx="30108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/api/login：300（50.0%）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96356" y="4130040"/>
              <a:ext cx="4203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二：www.example.test · 300 事件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96356" y="4501515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2622"/>
                  </a:solidFill>
                  <a:latin typeface="Arial"/>
                  <a:ea typeface="Arial"/>
                  <a:cs typeface="Arial"/>
                </a:rPr>
                <a:t>block 90.0% · allow 10.0%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96356" y="4949190"/>
              <a:ext cx="42345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事件覆盖估计 90.0% · 同窗口人工核验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6356" y="53206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各排名相互独立，事件可能采样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356985"/>
              <a:ext cx="6233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示例摘要省略窗口与 ID；完整示例附演讲备注。当前通知不展示 Unknown 占位文案。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496861" cy="1018794"/>
            <a:chOff x="592836" y="508635"/>
            <a:chExt cx="7496861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04 / 案例与验证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4968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验证数据口径，也验证失败时的行为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7408" y="2074545"/>
            <a:ext cx="10984992" cy="3912489"/>
            <a:chOff x="597408" y="2074545"/>
            <a:chExt cx="10984992" cy="3912489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2074545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数据与契约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625090"/>
              <a:ext cx="29589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Schema、窗口、Host 分母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0060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引用类型、支持条件、样本口径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3408" y="207454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运行时与链路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6456" y="2625090"/>
              <a:ext cx="3906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Workers 集成测试、Queue binding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6456" y="3006090"/>
              <a:ext cx="3809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Fetch Mock、外部错误与有限重试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590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3922395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安全与通知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456" y="4472940"/>
              <a:ext cx="3743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凭证脱敏、2000 UTF-8 字节预算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485394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完整追踪 ID、失败和降级标记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3408" y="392239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真实环境核验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96456" y="4472940"/>
              <a:ext cx="36969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同窗口、同 Host 对照 Dashboard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6456" y="48539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区分结构通过、支持通过与投递成功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5634990"/>
              <a:ext cx="67394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OpenSpec 明确契约 → 失败测试 → 最小实现 → 回归与影响检查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356985"/>
              <a:ext cx="6276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质量门禁 · types / typecheck / lint / test；Mock 通过不能替代真实 Provider 验收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030402" cy="1018794"/>
            <a:chOff x="592836" y="508635"/>
            <a:chExt cx="7030402" cy="10187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04 / 案例与验证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882015"/>
              <a:ext cx="70304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实现已形成，稳定性要靠分层验证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7408" y="1931670"/>
            <a:ext cx="10984992" cy="4112514"/>
            <a:chOff x="597408" y="1931670"/>
            <a:chExt cx="10984992" cy="4112514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19316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775B"/>
                  </a:solidFill>
                  <a:latin typeface="Arial"/>
                  <a:ea typeface="Microsoft YaHei"/>
                  <a:cs typeface="Arial"/>
                </a:rPr>
                <a:t>已实现与本地验证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181856" y="1986915"/>
              <a:ext cx="5301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固定窗口、Host 独立分析、证据引用、规则降级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81856" y="2406015"/>
              <a:ext cx="58016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仓库记录包含 Workers Mock、类型检查与 Lint 通过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7408" y="32461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真实接口已有证据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1856" y="3301365"/>
              <a:ext cx="4709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AI v3 单 Host 烟测：2 / 3 通过，未达门槛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81856" y="3720465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历史窗口模拟成功；旧版通知获机器人成功回执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267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FD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7408" y="456057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仍需补齐的验收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81856" y="4615815"/>
              <a:ext cx="46997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622"/>
                  </a:solidFill>
                  <a:latin typeface="Arial"/>
                  <a:ea typeface="Microsoft YaHei"/>
                  <a:cs typeface="Arial"/>
                </a:rPr>
                <a:t>3 / 5 Host 模型兼容性、当前通知版式验证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1856" y="5034915"/>
              <a:ext cx="50081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线上 Webhook + Queue + Worker 端到端验收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56921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95625"/>
                  </a:solidFill>
                  <a:latin typeface="Arial"/>
                  <a:ea typeface="Microsoft YaHei"/>
                  <a:cs typeface="Arial"/>
                </a:rPr>
                <a:t>一次成功调用，不构成稳定上线的证明。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356985"/>
              <a:ext cx="5900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26D66"/>
                  </a:solidFill>
                  <a:latin typeface="Arial"/>
                  <a:ea typeface="Microsoft YaHei"/>
                  <a:cs typeface="Arial"/>
                </a:rPr>
                <a:t>依据截至 2026-09-30 的仓库记录 · 本次 PPT 制作未调用真实服务或执行部署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26D66"/>
                  </a:solidFill>
                  <a:latin typeface="Arial"/>
                  <a:ea typeface="Arial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62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2836" y="508635"/>
            <a:ext cx="7648240" cy="1171194"/>
            <a:chOff x="592836" y="508635"/>
            <a:chExt cx="7648240" cy="1171194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0863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8DFDA"/>
                  </a:solidFill>
                  <a:latin typeface="Arial"/>
                  <a:ea typeface="Microsoft YaHei"/>
                  <a:cs typeface="Arial"/>
                </a:rPr>
                <a:t>05 / 经验与讨论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1034415"/>
              <a:ext cx="76482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先让事实可信，再让 AI 辅助判断。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0550" y="2167890"/>
            <a:ext cx="10991850" cy="3914394"/>
            <a:chOff x="590550" y="2167890"/>
            <a:chExt cx="10991850" cy="391439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21678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D95625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35861" y="22345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固定口径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8206" y="23774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8DFDA"/>
                  </a:solidFill>
                  <a:latin typeface="Arial"/>
                  <a:ea typeface="Microsoft YaHei"/>
                  <a:cs typeface="Arial"/>
                </a:rPr>
                <a:t>同一个窗口，明确每一个分母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048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6D6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0550" y="34251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D95625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5861" y="34918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约束表达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58206" y="3634740"/>
              <a:ext cx="3523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8DFDA"/>
                  </a:solidFill>
                  <a:latin typeface="Arial"/>
                  <a:ea typeface="Microsoft YaHei"/>
                  <a:cs typeface="Arial"/>
                </a:rPr>
                <a:t>结论必须有支持，允许 Unknown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305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6D6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0550" y="46824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D95625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35861" y="47491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保留降级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8206" y="489204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8DFDA"/>
                  </a:solidFill>
                  <a:latin typeface="Arial"/>
                  <a:ea typeface="Microsoft YaHei"/>
                  <a:cs typeface="Arial"/>
                </a:rPr>
                <a:t>AI 不可用时，基础分析仍有价值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5730240"/>
              <a:ext cx="53734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讨论：你最希望通知补充哪一种“可核验的证据”？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504" y="6356985"/>
            <a:ext cx="10984992" cy="234696"/>
            <a:chOff x="603504" y="635698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356985"/>
              <a:ext cx="3369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8DFDA"/>
                  </a:solidFill>
                  <a:latin typeface="Arial"/>
                  <a:ea typeface="Microsoft YaHei"/>
                  <a:cs typeface="Arial"/>
                </a:rPr>
                <a:t>Cloudflare AI Alert Analyzer · 团队内部分享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D8DFDA"/>
                  </a:solidFill>
                  <a:latin typeface="Arial"/>
                  <a:ea typeface="Arial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2026-09-30T04:23:51Z</dcterms:created>
  <dcterms:modified xsi:type="dcterms:W3CDTF">2026-09-30T04:23:51Z</dcterms:modified>
  <cp:category/>
  <cp:contentStatus/>
</cp:coreProperties>
</file>